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6B7EFF">
              <a:alpha val="18000"/>
            </a:srgbClr>
          </a:solidFill>
          <a:ln w="12700">
            <a:solidFill>
              <a:srgbClr val="6B7EFF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GATEGUARD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MSO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Opportunity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 recurring revenue network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access control and AI-powered property security.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389120"/>
            <a:ext cx="1097280" cy="36576"/>
          </a:xfrm>
          <a:prstGeom prst="rect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portal.gateguard.co  ·  Confidential  ·  May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in the market today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are stuck with fragmented, outdated systems. Nobody connects the dots.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54864" cy="1371600"/>
          </a:xfrm>
          <a:prstGeom prst="rect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600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Legacy Systems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" y="196596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controllers, cameras, and access panels from 4 different vendors. No one talks to each other. No central view.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417320"/>
            <a:ext cx="54864" cy="1371600"/>
          </a:xfrm>
          <a:prstGeom prst="rect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1600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📞  Reactive Support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47488" y="196596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managers call whoever installed it. Technicians show up without a work order, without a history, without parts.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017520"/>
            <a:ext cx="54864" cy="1371600"/>
          </a:xfrm>
          <a:prstGeom prst="rect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200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💸  No MRR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" y="356616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sell hardware once and move on. No recurring revenue. No long-term relationship. No reason to be excellent.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017520"/>
            <a:ext cx="54864" cy="1371600"/>
          </a:xfrm>
          <a:prstGeom prst="rect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3200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Institutional Knowledge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47488" y="356616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dealer's best technician holds everything in their head. When they leave, 10 years of expertise walks out the door.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company. One platform. Everything connected.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GateGuard is the only full-stack solution — hardware, software, and AI working together.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685800"/>
          </a:xfrm>
          <a:prstGeom prst="rect">
            <a:avLst/>
          </a:prstGeom>
          <a:solidFill>
            <a:srgbClr val="0C111D"/>
          </a:solidFill>
          <a:ln w="12700">
            <a:solidFill>
              <a:srgbClr val="0C11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🚪  HARDWARE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" y="2761488"/>
            <a:ext cx="73152" cy="73152"/>
          </a:xfrm>
          <a:prstGeom prst="ellipse">
            <a:avLst/>
          </a:prstGeom>
          <a:solidFill>
            <a:srgbClr val="0C111D"/>
          </a:solidFill>
          <a:ln w="12700">
            <a:solidFill>
              <a:srgbClr val="0C11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157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Vehicular gate operators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" y="3090672"/>
            <a:ext cx="73152" cy="73152"/>
          </a:xfrm>
          <a:prstGeom prst="ellipse">
            <a:avLst/>
          </a:prstGeom>
          <a:solidFill>
            <a:srgbClr val="0C111D"/>
          </a:solidFill>
          <a:ln w="12700">
            <a:solidFill>
              <a:srgbClr val="0C11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449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barriers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3419856"/>
            <a:ext cx="73152" cy="73152"/>
          </a:xfrm>
          <a:prstGeom prst="ellipse">
            <a:avLst/>
          </a:prstGeom>
          <a:solidFill>
            <a:srgbClr val="0C111D"/>
          </a:solidFill>
          <a:ln w="12700">
            <a:solidFill>
              <a:srgbClr val="0C11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741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panels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" y="3749040"/>
            <a:ext cx="73152" cy="73152"/>
          </a:xfrm>
          <a:prstGeom prst="ellipse">
            <a:avLst/>
          </a:prstGeom>
          <a:solidFill>
            <a:srgbClr val="0C111D"/>
          </a:solidFill>
          <a:ln w="12700">
            <a:solidFill>
              <a:srgbClr val="0C11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033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cameras &amp; NVRs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4078224"/>
            <a:ext cx="73152" cy="73152"/>
          </a:xfrm>
          <a:prstGeom prst="ellipse">
            <a:avLst/>
          </a:prstGeom>
          <a:solidFill>
            <a:srgbClr val="0C111D"/>
          </a:solidFill>
          <a:ln w="12700">
            <a:solidFill>
              <a:srgbClr val="0C11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325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Intercom &amp; call boxes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" y="4407408"/>
            <a:ext cx="73152" cy="73152"/>
          </a:xfrm>
          <a:prstGeom prst="ellipse">
            <a:avLst/>
          </a:prstGeom>
          <a:solidFill>
            <a:srgbClr val="0C111D"/>
          </a:solidFill>
          <a:ln w="12700">
            <a:solidFill>
              <a:srgbClr val="0C11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3616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locks &amp; readers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1417320"/>
            <a:ext cx="2651760" cy="685800"/>
          </a:xfrm>
          <a:prstGeom prst="rect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463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SOFTWARE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103120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10712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NEXUS Portal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410712" y="2761488"/>
            <a:ext cx="73152" cy="73152"/>
          </a:xfrm>
          <a:prstGeom prst="ellipse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7157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&amp; proposals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10712" y="3090672"/>
            <a:ext cx="73152" cy="73152"/>
          </a:xfrm>
          <a:prstGeom prst="ellipse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0449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&amp; dispatch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10712" y="3419856"/>
            <a:ext cx="73152" cy="73152"/>
          </a:xfrm>
          <a:prstGeom prst="ellipse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3741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management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10712" y="3749040"/>
            <a:ext cx="73152" cy="73152"/>
          </a:xfrm>
          <a:prstGeom prst="ellipse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37033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invoices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10712" y="4078224"/>
            <a:ext cx="73152" cy="73152"/>
          </a:xfrm>
          <a:prstGeom prst="ellipse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40325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surveys &amp; SOWs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10712" y="4407408"/>
            <a:ext cx="73152" cy="73152"/>
          </a:xfrm>
          <a:prstGeom prst="ellipse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0" y="43616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&amp; scheduling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1417320"/>
            <a:ext cx="265176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1463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AI AGENTS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35040" y="2103120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99632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Army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99632" y="2761488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7157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— Lead Intelligence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99632" y="3090672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30449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— Voice AI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99632" y="3419856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33741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— Market Intel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99632" y="3749040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37033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— Quote Builder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99632" y="4078224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40325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— Client Comms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99632" y="4407408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43616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DirecTV/ISP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NEXUS — Your command center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portal. Every dealer, every property, every tech, every invoice — in one place.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27048"/>
            <a:ext cx="384048" cy="38404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" y="155448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99339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KPIs, pipeline, team performance, EOS Scorecard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527048"/>
            <a:ext cx="384048" cy="38404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04488" y="155448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Quotes &amp; CPQ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10712" y="199339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templates, margin engine, client e-sign proposals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27048"/>
            <a:ext cx="384048" cy="38404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93408" y="155448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9632" y="199339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orders, tech roster, schedule timeline, access codes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218688"/>
            <a:ext cx="384048" cy="38404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Dealer Network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368503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wizard, compliance docs, feature controls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30632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3218688"/>
            <a:ext cx="384048" cy="38404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04488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ARIA Lead Intel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10712" y="368503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researches any property — DM contacts, tech stack, pitch strategy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30632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218688"/>
            <a:ext cx="384048" cy="38404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93408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Calendar + CRM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99632" y="368503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sync, activity tracking, opportunity pipeline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you fit in the network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Master System Operator, you sit at the top of a powerful dealer hierarchy.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971800" y="1417320"/>
            <a:ext cx="32004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54680" y="14721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GateGuard Corporate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54680" y="17647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products, AI, support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06240" y="21031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2286000"/>
            <a:ext cx="5029200" cy="685800"/>
          </a:xfrm>
          <a:prstGeom prst="rect">
            <a:avLst/>
          </a:prstGeom>
          <a:solidFill>
            <a:srgbClr val="6B7EFF"/>
          </a:solidFill>
          <a:ln w="25400">
            <a:solidFill>
              <a:srgbClr val="6B7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40280" y="23408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— Master System Operator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40280" y="26334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network. Earn on everything below you.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29718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3154680"/>
            <a:ext cx="41148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3209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Dealers / Service Dealers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3502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service, and manage properties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38404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57400" y="4023360"/>
            <a:ext cx="50292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40782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Properties (End Sites)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40280" y="43708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communities, HOAs, multifamily, commercial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663440"/>
            <a:ext cx="81381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6908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As an MSO, you earn a revenue override on every dollar your dealer network generates — hardware and MRR.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ways you make money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margins, recurring software revenue, and a network override — all compounding over 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502920"/>
          </a:xfrm>
          <a:prstGeom prst="rect">
            <a:avLst/>
          </a:prstGeom>
          <a:solidFill>
            <a:srgbClr val="0C111D"/>
          </a:solidFill>
          <a:ln w="12700">
            <a:solidFill>
              <a:srgbClr val="0C11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630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Hardware Margin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20–40%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21792" y="2724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on hardware sold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3035808"/>
            <a:ext cx="2331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127248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buy at MSO pricing — a significant discount below retail list price. You sell to dealers or directly to properties. Every gate, camera, and reader generates margin.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417320"/>
            <a:ext cx="2651760" cy="502920"/>
          </a:xfrm>
          <a:prstGeom prst="rect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4630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Software MRR Override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10712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$0.50+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410712" y="2724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unit / per month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10712" y="3035808"/>
            <a:ext cx="2331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3127248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property your dealers manage pays a monthly software fee. As MSO, you earn a recurring override on every active unit in your network — forever, as long as they're active.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417320"/>
            <a:ext cx="265176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14630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Dealer Growth Bonus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9632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Scales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199632" y="2724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every dealer you add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99632" y="3035808"/>
            <a:ext cx="2331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3127248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dealers you recruit and activate under your MSO, the wider your override network. You earn on their hardware and their MRR — not just your direct sales.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your network looks like at scale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example — 20 active dealers, 5 properties each, 80 units average per property.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1417320"/>
          </a:xfrm>
          <a:prstGeom prst="rect">
            <a:avLst/>
          </a:prstGeom>
          <a:solidFill>
            <a:srgbClr val="0C111D"/>
          </a:solidFill>
          <a:ln w="12700">
            <a:solidFill>
              <a:srgbClr val="0C111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63040"/>
            <a:ext cx="1737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Dealers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606040" y="1417320"/>
            <a:ext cx="1965960" cy="1417320"/>
          </a:xfrm>
          <a:prstGeom prst="rect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15768" y="1463040"/>
            <a:ext cx="1737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 5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Properties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1965960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1463040"/>
            <a:ext cx="1737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 80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Units avg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903720" y="1417320"/>
            <a:ext cx="1965960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13448" y="1463040"/>
            <a:ext cx="1737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 8,000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units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54864" cy="804672"/>
          </a:xfrm>
          <a:prstGeom prst="rect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MRR Override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3337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units × $0.50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3017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B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$4,000/mo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800600" y="292608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926080"/>
            <a:ext cx="54864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1768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Override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01768" y="3337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from software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86600" y="3017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$48,000/yr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86200"/>
            <a:ext cx="54864" cy="804672"/>
          </a:xfrm>
          <a:prstGeom prst="rect">
            <a:avLst/>
          </a:prstGeom>
          <a:solidFill>
            <a:srgbClr val="0C111D"/>
          </a:solidFill>
          <a:ln w="12700">
            <a:solidFill>
              <a:srgbClr val="0C11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(20 installs/yr)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4297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avg $6K per property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39776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$120,000+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800600" y="388620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3886200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1 Total Potential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01768" y="4297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every quarter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86600" y="39776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$168,000+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02920" y="48463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Numbers are illustrative. Actual commission rates set in your MSO agreement.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advantage your dealers can't get anywhere else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AI agents built into the platform — not bolt-ons. The competition doesn't have this.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6908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54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8562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Intelligence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1305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Researches any property — finds the decision maker, tech stack, ROE contracts, and a full pitch strategy in under 60 seconds.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406908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417320"/>
            <a:ext cx="54864" cy="1508760"/>
          </a:xfrm>
          <a:prstGeom prst="rect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554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TRINITY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01768" y="18562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01768" y="21305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inbound and outbound calls for lead qualification. Talks, listens, and routes — no human needed for tier-1.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6908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2461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" y="3547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382219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territory sweeps. Surfaces expiring contracts and displacement opportunities. 6-month outreach campaign per property.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108960"/>
            <a:ext cx="406908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108960"/>
            <a:ext cx="54864" cy="1508760"/>
          </a:xfrm>
          <a:prstGeom prst="rect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32461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01768" y="3547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Builder 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01768" y="382219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scenario templates, dependency checks, margin engine. A new rep can build a professional quote in 5 minutes.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Your dealers become market leaders the day they sign on. The AI holds 30 years of expertise in the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market. Why now.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and property security is a $12B+ market. Legacy players are aging out.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690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444752"/>
          </a:xfrm>
          <a:prstGeom prst="rect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99616"/>
            <a:ext cx="292608" cy="29260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99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" y="1517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Windows Are Opening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883664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bulk ISP, gate, and access contracts signed in 2018–2022 are expiring in 2025–2028. Properties are actively shopping replacements right now.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40690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71600"/>
            <a:ext cx="54864" cy="1444752"/>
          </a:xfrm>
          <a:prstGeom prst="rect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01768" y="1499616"/>
            <a:ext cx="292608" cy="29260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499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94960" y="1517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Construction Boom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01768" y="1883664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250,000+ multifamily units delivered in 2024 alone. Every one needs a gate system, cameras, access control, and internet. Most are undecided on vendors.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690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54864" cy="1444752"/>
          </a:xfrm>
          <a:prstGeom prst="rect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145536"/>
            <a:ext cx="292608" cy="29260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" y="3163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Legacy Systems Are Failing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3529584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DoorKing, and LiftMaster are analog-era products. No AI. No portal. No recurring revenue model for the dealer. Properties want more.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3017520"/>
            <a:ext cx="40690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017520"/>
            <a:ext cx="54864" cy="1444752"/>
          </a:xfrm>
          <a:prstGeom prst="rect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01768" y="3145536"/>
            <a:ext cx="292608" cy="29260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94960" y="3163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Is the New Differentiator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01768" y="3529584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MSO in a territory who brings AI-driven quoting, diagnostics, and lead intel to their dealers wins the market. Most territories are still open.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6B7EFF">
              <a:alpha val="12000"/>
            </a:srgbClr>
          </a:solidFill>
          <a:ln w="12700">
            <a:solidFill>
              <a:srgbClr val="6B7E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steps to get started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move quickly. Most MSOs are activated within 2 weeks.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06040" cy="3154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36192"/>
            <a:ext cx="502920" cy="502920"/>
          </a:xfrm>
          <a:prstGeom prst="ellipse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4533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the MSO Agreement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send the agreement for e-signature directly from the portal. Review, sign, and you're in. Usually same week.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657600"/>
            <a:ext cx="22402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74904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GateGuard sends via NEXUS portal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9272" y="1417320"/>
            <a:ext cx="2606040" cy="3154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02152" y="1536192"/>
            <a:ext cx="502920" cy="502920"/>
          </a:xfrm>
          <a:prstGeom prst="ellipse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154533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02152" y="212140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Activate in NEXUS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02152" y="26060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 is created, your sub-dealer slots open, and you get full access to NEXUS — including ARIA, quotes, dispatch, and all AI tools.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02152" y="3657600"/>
            <a:ext cx="22402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374904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Takes 24–48 hours after signing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35624" y="1417320"/>
            <a:ext cx="2606040" cy="3154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18504" y="1536192"/>
            <a:ext cx="502920" cy="502920"/>
          </a:xfrm>
          <a:prstGeom prst="ellipse">
            <a:avLst/>
          </a:prstGeom>
          <a:solidFill>
            <a:srgbClr val="6B7EFF"/>
          </a:solidFill>
          <a:ln w="12700">
            <a:solidFill>
              <a:srgbClr val="6B7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154533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18504" y="212140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Your Network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18504" y="26060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recruiting dealers into your tier. GateGuard provides training, sales tools, proposal templates, and onboarding support for each dealer you bring 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18504" y="3657600"/>
            <a:ext cx="22402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8504" y="374904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 work alongside you every step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773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·  rfeldman@gateguard.co  ·  portal.gateguard.co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GateGuard MSO Opportunity</dc:title>
  <dc:subject>PptxGenJS Presentation</dc:subject>
  <dc:creator>GateGuard, LLC</dc:creator>
  <cp:lastModifiedBy>GateGuard, LLC</cp:lastModifiedBy>
  <cp:revision>1</cp:revision>
  <dcterms:created xsi:type="dcterms:W3CDTF">2026-05-29T13:55:12Z</dcterms:created>
  <dcterms:modified xsi:type="dcterms:W3CDTF">2026-05-29T13:55:12Z</dcterms:modified>
</cp:coreProperties>
</file>